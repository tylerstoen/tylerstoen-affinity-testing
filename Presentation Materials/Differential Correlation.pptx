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64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4AA5F73-FE12-46EB-A9F7-C813C4FB50CE}">
          <p14:sldIdLst>
            <p14:sldId id="256"/>
            <p14:sldId id="257"/>
            <p14:sldId id="262"/>
            <p14:sldId id="258"/>
            <p14:sldId id="264"/>
            <p14:sldId id="260"/>
            <p14:sldId id="261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0" d="100"/>
          <a:sy n="80" d="100"/>
        </p:scale>
        <p:origin x="510" y="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4F06C-F57B-4562-A0A8-8F853306884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70036-8307-4CA0-9A02-909F45AB3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7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70036-8307-4CA0-9A02-909F45AB3E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91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2249E-BBFF-E428-CEC3-81D190816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Differential Correlation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89329-419D-008E-AC3C-0302EA96B7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Tyler Stoen</a:t>
            </a:r>
          </a:p>
        </p:txBody>
      </p:sp>
    </p:spTree>
    <p:extLst>
      <p:ext uri="{BB962C8B-B14F-4D97-AF65-F5344CB8AC3E}">
        <p14:creationId xmlns:p14="http://schemas.microsoft.com/office/powerpoint/2010/main" val="3261832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271A-04D8-8CEC-29CE-897C68251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What is Differential Correlation?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7BDDC7-1402-CCF6-10CF-EDA26D6CF9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Measurement of how the relationship between two measured variables behaves across different groups or conditions.</a:t>
                </a:r>
              </a:p>
              <a:p>
                <a:pPr lvl="1"/>
                <a:r>
                  <a:rPr lang="en-US" dirty="0"/>
                  <a:t>Does their correlation change?</a:t>
                </a:r>
              </a:p>
              <a:p>
                <a:r>
                  <a:rPr lang="en-US" dirty="0"/>
                  <a:t>Correlations under different groups: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𝑐𝑜𝑟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𝑐𝑜𝑛𝑑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. 1</m:t>
                        </m:r>
                      </m:e>
                    </m:d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𝑐𝑜𝑟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𝑐𝑜𝑛𝑑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. 2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r1 and r2 represent the strength of correlation under each treatment</a:t>
                </a:r>
              </a:p>
              <a:p>
                <a:r>
                  <a:rPr lang="en-US" dirty="0"/>
                  <a:t>Differential Correlation defined as: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7BDDC7-1402-CCF6-10CF-EDA26D6CF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  <a:blipFill>
                <a:blip r:embed="rId2"/>
                <a:stretch>
                  <a:fillRect l="-667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>
            <a:extLst>
              <a:ext uri="{FF2B5EF4-FFF2-40B4-BE49-F238E27FC236}">
                <a16:creationId xmlns:a16="http://schemas.microsoft.com/office/drawing/2014/main" id="{3B052064-DB5B-88E8-3A81-953289CAFC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42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61CB-BBE5-16CC-DEAD-C81E3858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AF50D779-6AA0-DCB6-D9E9-EC2C4792A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6407" y="1995350"/>
            <a:ext cx="6979185" cy="4022725"/>
          </a:xfrm>
        </p:spPr>
      </p:pic>
    </p:spTree>
    <p:extLst>
      <p:ext uri="{BB962C8B-B14F-4D97-AF65-F5344CB8AC3E}">
        <p14:creationId xmlns:p14="http://schemas.microsoft.com/office/powerpoint/2010/main" val="199317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13A72-BB3D-3DAB-9D4A-8901ED91B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EF7C79-F225-6EDA-020D-840F1C09C7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Identify variable groups that have similar differential behavior across conditions</a:t>
                </a:r>
              </a:p>
              <a:p>
                <a:pPr lvl="1"/>
                <a:r>
                  <a:rPr lang="en-US" dirty="0"/>
                  <a:t>Ex. Communication networks</a:t>
                </a:r>
                <a:r>
                  <a:rPr lang="en-US"/>
                  <a:t>, genes</a:t>
                </a:r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Cliques</a:t>
                </a:r>
              </a:p>
              <a:p>
                <a:pPr lvl="1"/>
                <a:r>
                  <a:rPr lang="en-US" dirty="0"/>
                  <a:t>A set of variables, </a:t>
                </a:r>
                <a:r>
                  <a:rPr lang="en-US" i="1" dirty="0"/>
                  <a:t>A</a:t>
                </a:r>
                <a:r>
                  <a:rPr lang="en-US" dirty="0"/>
                  <a:t>,</a:t>
                </a:r>
                <a:r>
                  <a:rPr lang="en-US" i="1" dirty="0"/>
                  <a:t> </a:t>
                </a:r>
                <a:r>
                  <a:rPr lang="en-US" dirty="0"/>
                  <a:t>such that each variable in the set has a positive average differential correlation with other variables in the set.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ⅈ,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EF7C79-F225-6EDA-020D-840F1C09C7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546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FE5F-B7D1-FFB3-AC16-685CA770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DCM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C1C78-AD50-9D49-9895-2BFBEFCC1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1. Determine differential correlations</a:t>
            </a:r>
          </a:p>
          <a:p>
            <a:r>
              <a:rPr lang="en-US" dirty="0"/>
              <a:t>2. Identify candidate sets of variables (cliques)</a:t>
            </a:r>
          </a:p>
          <a:p>
            <a:pPr lvl="1"/>
            <a:r>
              <a:rPr lang="en-US" dirty="0"/>
              <a:t>Start with an initial set A0 (possibly empty).</a:t>
            </a:r>
          </a:p>
          <a:p>
            <a:pPr lvl="1"/>
            <a:r>
              <a:rPr lang="en-US" dirty="0"/>
              <a:t>Iteratively add/remove variables based on whether they have a significant positive average differential correlation with the current set.</a:t>
            </a:r>
          </a:p>
          <a:p>
            <a:pPr lvl="1"/>
            <a:r>
              <a:rPr lang="en-US" dirty="0"/>
              <a:t>Stop when the set stabilizes (no variables change).</a:t>
            </a:r>
          </a:p>
          <a:p>
            <a:r>
              <a:rPr lang="en-US" dirty="0"/>
              <a:t>3. Assess statistical significance</a:t>
            </a:r>
          </a:p>
          <a:p>
            <a:pPr lvl="1"/>
            <a:r>
              <a:rPr lang="en-US" dirty="0"/>
              <a:t>Appropriate z-testing or permutation testing</a:t>
            </a:r>
          </a:p>
          <a:p>
            <a:pPr lvl="1"/>
            <a:r>
              <a:rPr lang="en-US" dirty="0"/>
              <a:t>Adjust for multiple testing (e.g., Benjamini-Hochberg Procedure).</a:t>
            </a:r>
          </a:p>
          <a:p>
            <a:r>
              <a:rPr lang="en-US" dirty="0"/>
              <a:t>4. Output significant variable sets</a:t>
            </a:r>
          </a:p>
          <a:p>
            <a:pPr lvl="1"/>
            <a:r>
              <a:rPr lang="en-US" dirty="0"/>
              <a:t>These sets are the ones you’d investigate further (e.g., genes that change co-expression between healthy and disease states).</a:t>
            </a:r>
          </a:p>
        </p:txBody>
      </p:sp>
    </p:spTree>
    <p:extLst>
      <p:ext uri="{BB962C8B-B14F-4D97-AF65-F5344CB8AC3E}">
        <p14:creationId xmlns:p14="http://schemas.microsoft.com/office/powerpoint/2010/main" val="1215403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2B203-24E4-8294-C227-3C9B318B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AEAB9-3D5F-A4C1-8622-346931B41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Say you’re interested in gene expression for 10 different genes for 2 different types of patients:</a:t>
            </a:r>
          </a:p>
          <a:p>
            <a:endParaRPr lang="en-US" dirty="0"/>
          </a:p>
        </p:txBody>
      </p:sp>
      <p:pic>
        <p:nvPicPr>
          <p:cNvPr id="5" name="Picture 4" descr="A red and purple squares&#10;&#10;AI-generated content may be incorrect.">
            <a:extLst>
              <a:ext uri="{FF2B5EF4-FFF2-40B4-BE49-F238E27FC236}">
                <a16:creationId xmlns:a16="http://schemas.microsoft.com/office/drawing/2014/main" id="{45AA470A-FB20-969E-1D67-687653291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72" y="2260986"/>
            <a:ext cx="5167628" cy="3192856"/>
          </a:xfrm>
          <a:prstGeom prst="rect">
            <a:avLst/>
          </a:prstGeom>
        </p:spPr>
      </p:pic>
      <p:pic>
        <p:nvPicPr>
          <p:cNvPr id="7" name="Picture 6" descr="A red and purple squares&#10;&#10;AI-generated content may be incorrect.">
            <a:extLst>
              <a:ext uri="{FF2B5EF4-FFF2-40B4-BE49-F238E27FC236}">
                <a16:creationId xmlns:a16="http://schemas.microsoft.com/office/drawing/2014/main" id="{4BF1B89B-DB31-0B7D-EA55-B123FA65D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60986"/>
            <a:ext cx="5167628" cy="319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24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5234-2C48-41A4-0BCF-E73DDFFF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DCM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58ECC-ABBA-B72E-8C90-AF03C6C40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could we incorporate this for more than 2 groups?</a:t>
            </a:r>
          </a:p>
          <a:p>
            <a:pPr lvl="1"/>
            <a:r>
              <a:rPr lang="en-US" dirty="0"/>
              <a:t>Discussed differential correlation methods only compare </a:t>
            </a:r>
            <a:r>
              <a:rPr lang="en-US" i="1" dirty="0"/>
              <a:t>two groups </a:t>
            </a:r>
            <a:r>
              <a:rPr lang="en-US" dirty="0"/>
              <a:t>(Condition 1 – Condition 2).</a:t>
            </a:r>
          </a:p>
          <a:p>
            <a:pPr lvl="1"/>
            <a:endParaRPr lang="en-US" dirty="0"/>
          </a:p>
          <a:p>
            <a:r>
              <a:rPr lang="en-US" dirty="0"/>
              <a:t>Pairwise Comparisons?</a:t>
            </a:r>
          </a:p>
          <a:p>
            <a:pPr lvl="1"/>
            <a:r>
              <a:rPr lang="en-US" dirty="0"/>
              <a:t>Doesn’t test for overall differences across all groups simultaneously.</a:t>
            </a:r>
          </a:p>
          <a:p>
            <a:pPr lvl="1"/>
            <a:r>
              <a:rPr lang="en-US" dirty="0"/>
              <a:t>Can be hard to interpret due to conflicting pairwise results.</a:t>
            </a:r>
          </a:p>
          <a:p>
            <a:endParaRPr lang="en-US" dirty="0"/>
          </a:p>
          <a:p>
            <a:r>
              <a:rPr lang="en-US" b="1" dirty="0"/>
              <a:t>Goal:</a:t>
            </a:r>
            <a:r>
              <a:rPr lang="en-US" dirty="0"/>
              <a:t> Develop a framework that measures multi-group changes in correlation structure and apply DCM process for multiple groups.</a:t>
            </a:r>
          </a:p>
          <a:p>
            <a:pPr lvl="1"/>
            <a:r>
              <a:rPr lang="en-US" dirty="0"/>
              <a:t>Like ANOVA, but for correlations instead of means.</a:t>
            </a:r>
          </a:p>
        </p:txBody>
      </p:sp>
    </p:spTree>
    <p:extLst>
      <p:ext uri="{BB962C8B-B14F-4D97-AF65-F5344CB8AC3E}">
        <p14:creationId xmlns:p14="http://schemas.microsoft.com/office/powerpoint/2010/main" val="626011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230A27-1553-42F8-99D7-829868E13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72232D-B4D6-429F-B3D1-2D9891B85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59232-69B7-42D1-10EC-D5B4C8CDA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030" y="963997"/>
            <a:ext cx="3254691" cy="4938361"/>
          </a:xfrm>
        </p:spPr>
        <p:txBody>
          <a:bodyPr anchor="ctr">
            <a:normAutofit/>
          </a:bodyPr>
          <a:lstStyle/>
          <a:p>
            <a:pPr algn="r"/>
            <a:r>
              <a:rPr lang="en-US" sz="4400" dirty="0"/>
              <a:t>Thank you!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CC3441-26B3-4381-B3DF-8AE3C288B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25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810EB-D960-DF4D-5764-139A6309F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882" y="963507"/>
            <a:ext cx="6135097" cy="4938851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8879176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2258</TotalTime>
  <Words>330</Words>
  <Application>Microsoft Office PowerPoint</Application>
  <PresentationFormat>Widescreen</PresentationFormat>
  <Paragraphs>43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Calibri</vt:lpstr>
      <vt:lpstr>Calibri Light</vt:lpstr>
      <vt:lpstr>Cambria Math</vt:lpstr>
      <vt:lpstr>Retrospect</vt:lpstr>
      <vt:lpstr>Differential Correlation</vt:lpstr>
      <vt:lpstr>What is Differential Correlation?</vt:lpstr>
      <vt:lpstr>PowerPoint Presentation</vt:lpstr>
      <vt:lpstr>DCM</vt:lpstr>
      <vt:lpstr>How DCM works</vt:lpstr>
      <vt:lpstr>Example</vt:lpstr>
      <vt:lpstr>Extending DCM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Stoen</dc:creator>
  <cp:lastModifiedBy>Tyler Stoen</cp:lastModifiedBy>
  <cp:revision>10</cp:revision>
  <dcterms:created xsi:type="dcterms:W3CDTF">2025-11-08T05:48:53Z</dcterms:created>
  <dcterms:modified xsi:type="dcterms:W3CDTF">2025-11-12T18:31:25Z</dcterms:modified>
</cp:coreProperties>
</file>