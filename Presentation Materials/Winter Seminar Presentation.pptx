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62" r:id="rId4"/>
    <p:sldId id="269" r:id="rId5"/>
    <p:sldId id="258" r:id="rId6"/>
    <p:sldId id="260" r:id="rId7"/>
    <p:sldId id="271" r:id="rId8"/>
    <p:sldId id="261" r:id="rId9"/>
    <p:sldId id="265" r:id="rId10"/>
    <p:sldId id="266" r:id="rId11"/>
    <p:sldId id="270" r:id="rId12"/>
    <p:sldId id="267" r:id="rId13"/>
    <p:sldId id="268" r:id="rId14"/>
    <p:sldId id="263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84AA5F73-FE12-46EB-A9F7-C813C4FB50CE}">
          <p14:sldIdLst>
            <p14:sldId id="256"/>
            <p14:sldId id="257"/>
            <p14:sldId id="262"/>
            <p14:sldId id="269"/>
            <p14:sldId id="258"/>
            <p14:sldId id="260"/>
            <p14:sldId id="271"/>
            <p14:sldId id="261"/>
            <p14:sldId id="265"/>
            <p14:sldId id="266"/>
            <p14:sldId id="270"/>
            <p14:sldId id="267"/>
            <p14:sldId id="268"/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60"/>
  </p:normalViewPr>
  <p:slideViewPr>
    <p:cSldViewPr snapToGrid="0">
      <p:cViewPr>
        <p:scale>
          <a:sx n="81" d="100"/>
          <a:sy n="81" d="100"/>
        </p:scale>
        <p:origin x="405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54F06C-F57B-4562-A0A8-8F8533068840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A70036-8307-4CA0-9A02-909F45AB3E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9712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what the null hypothesis means with example context.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A70036-8307-4CA0-9A02-909F45AB3E2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9725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Importantly, they don’t test the entry-wise statistics and there is no mention of any testing of them in the paper, only serves the purpose of generating the overall statistic.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A70036-8307-4CA0-9A02-909F45AB3E2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05199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 usage in context of our problem.</a:t>
            </a:r>
          </a:p>
          <a:p>
            <a:r>
              <a:rPr lang="en-US" dirty="0"/>
              <a:t>Explain that it is applicable for almost any situation, but is highly computationally expensive, thus its low utilization.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A70036-8307-4CA0-9A02-909F45AB3E2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60594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“levels” involved here, the observation level and the correlation level. Shuffling the correlations doesn’t change the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A70036-8307-4CA0-9A02-909F45AB3E2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68310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A70036-8307-4CA0-9A02-909F45AB3E23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30912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Under the null, we expect 5% rejection rate. Permutation test hovers at around 0.05 even for small sample sizes. Even at the largest sample size, the Cai &amp; Zhang rejection rate still is at 19%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A70036-8307-4CA0-9A02-909F45AB3E23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52962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Bullet 1 is a consequence of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A70036-8307-4CA0-9A02-909F45AB3E23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987243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test statistic I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A70036-8307-4CA0-9A02-909F45AB3E23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23805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69CB8-F204-4D06-B913-C5A26A89888A}" type="datetimeFigureOut">
              <a:rPr lang="en-US" dirty="0"/>
              <a:t>3/11/2026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BB376-B19C-488D-ABEB-03C7E6E9E3E0}" type="datetimeFigureOut">
              <a:rPr lang="en-US" dirty="0"/>
              <a:t>3/11/2026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F077B-A50F-4D64-8574-E2D6A98A5553}" type="datetimeFigureOut">
              <a:rPr lang="en-US" dirty="0"/>
              <a:t>3/11/2026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E2A62-1983-43A1-A163-D8AA46534C80}" type="datetimeFigureOut">
              <a:rPr lang="en-US" dirty="0"/>
              <a:t>3/11/2026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F3E3B-34E3-4345-B2A1-994B83598A9C}" type="datetimeFigureOut">
              <a:rPr lang="en-US" dirty="0"/>
              <a:t>3/11/2026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16C96-82A1-4D77-8ADA-627AC6FE3D65}" type="datetimeFigureOut">
              <a:rPr lang="en-US" dirty="0"/>
              <a:t>3/11/2026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02C1E-28F2-47E9-802D-339E64E2F920}" type="datetimeFigureOut">
              <a:rPr lang="en-US" dirty="0"/>
              <a:t>3/11/2026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24271A48-F18A-45B3-BC05-1E27DA3F88AF}" type="datetimeFigureOut">
              <a:rPr lang="en-US" dirty="0"/>
              <a:t>3/11/2026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747F8-9654-4282-85D2-65F41AAE7A75}" type="datetimeFigureOut">
              <a:rPr lang="en-US" dirty="0"/>
              <a:t>3/11/2026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6E300-0A13-4A81-945A-7333C271A069}" type="datetimeFigureOut">
              <a:rPr lang="en-US" dirty="0"/>
              <a:t>3/11/2026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71962-1EA4-46E7-BCB0-F36CE46D1A59}" type="datetimeFigureOut">
              <a:rPr lang="en-US" dirty="0"/>
              <a:t>3/11/2026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DC5B261-8843-42D1-AAFC-05E20E2D9B97}" type="datetimeFigureOut">
              <a:rPr lang="en-US" dirty="0"/>
              <a:t>3/11/2026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42249E-BBFF-E428-CEC3-81D19081641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Permutation Tests for Correlation Matrices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589329-419D-008E-AC3C-0302EA96B76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Tyler Stoen</a:t>
            </a:r>
          </a:p>
        </p:txBody>
      </p:sp>
    </p:spTree>
    <p:extLst>
      <p:ext uri="{BB962C8B-B14F-4D97-AF65-F5344CB8AC3E}">
        <p14:creationId xmlns:p14="http://schemas.microsoft.com/office/powerpoint/2010/main" val="32618320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5C271A-04D8-8CEC-29CE-897C682516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en-US" dirty="0"/>
              <a:t>Paper Introduction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87BDDC7-1402-CCF6-10CF-EDA26D6CF97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97280" y="1845734"/>
                <a:ext cx="10058400" cy="4023360"/>
              </a:xfrm>
            </p:spPr>
            <p:txBody>
              <a:bodyPr>
                <a:normAutofit/>
              </a:bodyPr>
              <a:lstStyle/>
              <a:p>
                <a:endParaRPr lang="en-US" dirty="0"/>
              </a:p>
              <a:p>
                <a:r>
                  <a:rPr lang="en-US" dirty="0"/>
                  <a:t>"Effective Permutation Tests for Differences Across Multiple High-Dimensional Correlation Matrices" – Gomez, Zhang, &amp; Liu.</a:t>
                </a:r>
              </a:p>
              <a:p>
                <a:endParaRPr lang="en-US" dirty="0"/>
              </a:p>
              <a:p>
                <a:r>
                  <a:rPr lang="en-US" dirty="0"/>
                  <a:t>Motivation: Testing differences in correlation matrices is a critical problem in fields like biology (e.g., gene co-expression) and finance (e.g., asset dependencies).</a:t>
                </a:r>
              </a:p>
              <a:p>
                <a:endParaRPr lang="en-US" dirty="0"/>
              </a:p>
              <a:p>
                <a:r>
                  <a:rPr lang="en-US" dirty="0"/>
                  <a:t>Goal: To develop a robust framework for testing the null hypothesis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:</m:t>
                    </m:r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=…=</m:t>
                    </m:r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𝐾</m:t>
                        </m:r>
                      </m:sub>
                    </m:sSub>
                  </m:oMath>
                </a14:m>
                <a:r>
                  <a:rPr lang="en-US" dirty="0"/>
                  <a:t> against the alternative that at least one correlation matrix differs.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87BDDC7-1402-CCF6-10CF-EDA26D6CF97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7280" y="1845734"/>
                <a:ext cx="10058400" cy="4023360"/>
              </a:xfrm>
              <a:blipFill>
                <a:blip r:embed="rId3"/>
                <a:stretch>
                  <a:fillRect l="-6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AutoShape 2">
            <a:extLst>
              <a:ext uri="{FF2B5EF4-FFF2-40B4-BE49-F238E27FC236}">
                <a16:creationId xmlns:a16="http://schemas.microsoft.com/office/drawing/2014/main" id="{3B052064-DB5B-88E8-3A81-953289CAFC6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44428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1561CB-BBE5-16CC-DEAD-C81E38587C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Differential Correlation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504BE448-FF4B-3E2A-6244-791916D8A92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Differential correlation is a measurement of how the relationship between two measured variables behaves across different groups or conditions.</a:t>
                </a:r>
              </a:p>
              <a:p>
                <a:pPr lvl="1"/>
                <a:r>
                  <a:rPr lang="en-US" dirty="0"/>
                  <a:t>Does their correlation change?</a:t>
                </a:r>
              </a:p>
              <a:p>
                <a:r>
                  <a:rPr lang="en-US" dirty="0"/>
                  <a:t>Using the simpler two-treatment case, the author defines the following to quantify overall difference between correlation matrices: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 dirty="0"/>
                  <a:t> are </a:t>
                </a:r>
                <a:r>
                  <a:rPr lang="en-US" dirty="0" err="1"/>
                  <a:t>entrywise</a:t>
                </a:r>
                <a:r>
                  <a:rPr lang="en-US" dirty="0"/>
                  <a:t> statistics that are aggregated into a global statistic,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b="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504BE448-FF4B-3E2A-6244-791916D8A92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606" t="-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 descr="The image depicts a mathematical formula or equation involving variables T, X, n1, n2, Pij, and terms with subscripts, suggesting a relationship between these variables, possibly in a physics or engineering context.&#10;&#10;AI-generated content may be incorrect.">
            <a:extLst>
              <a:ext uri="{FF2B5EF4-FFF2-40B4-BE49-F238E27FC236}">
                <a16:creationId xmlns:a16="http://schemas.microsoft.com/office/drawing/2014/main" id="{55A3EDB6-9555-75E5-4498-29BFA171AF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88009" y="3728972"/>
            <a:ext cx="5676942" cy="981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31789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432669-E474-1CF9-BE6E-D3ADB440E4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Problem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B7AF5DE-874E-9860-AF08-98716202357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For the test statistic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to follow a known asymptotic null distributions, it requires several assumptions that cannot be met due to…</a:t>
                </a:r>
              </a:p>
              <a:p>
                <a:r>
                  <a:rPr lang="en-US" dirty="0"/>
                  <a:t>High Dimensionality</a:t>
                </a:r>
              </a:p>
              <a:p>
                <a:pPr lvl="1"/>
                <a:r>
                  <a:rPr lang="en-US" dirty="0"/>
                  <a:t>As the number of variables </a:t>
                </a:r>
                <a:r>
                  <a:rPr lang="en-US" i="1" dirty="0"/>
                  <a:t>p</a:t>
                </a:r>
                <a:r>
                  <a:rPr lang="en-US" dirty="0"/>
                  <a:t> grows relative to the sample size </a:t>
                </a:r>
                <a:r>
                  <a:rPr lang="en-US" i="1" dirty="0"/>
                  <a:t>n</a:t>
                </a:r>
                <a:r>
                  <a:rPr lang="en-US" dirty="0"/>
                  <a:t>, standard theoretical models break.</a:t>
                </a:r>
              </a:p>
              <a:p>
                <a:pPr lvl="1"/>
                <a:r>
                  <a:rPr lang="en-US" dirty="0"/>
                  <a:t>Situations where we are interested in differential correlation often have large p (i.e. genes)</a:t>
                </a:r>
              </a:p>
              <a:p>
                <a:r>
                  <a:rPr lang="en-US" dirty="0"/>
                  <a:t>Unknown Signal Density</a:t>
                </a:r>
              </a:p>
              <a:p>
                <a:pPr lvl="1"/>
                <a:r>
                  <a:rPr lang="en-US" dirty="0"/>
                  <a:t>The performance of traditional procedures is highly dependent on the density of differences (sparse vs. dense).</a:t>
                </a:r>
              </a:p>
              <a:p>
                <a:r>
                  <a:rPr lang="en-US" dirty="0"/>
                  <a:t>Other assumptions such as the distribution of the sample data and underlying correlation structure cannot be made.</a:t>
                </a:r>
              </a:p>
              <a:p>
                <a:r>
                  <a:rPr lang="en-US" dirty="0"/>
                  <a:t>Need non-parametric method for p-values…</a:t>
                </a:r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B7AF5DE-874E-9860-AF08-98716202357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06" t="-1667" r="-909" b="-6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856667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213A72-BB3D-3DAB-9D4A-8901ED91BF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Permutation Testing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7EF7C79-F225-6EDA-020D-840F1C09C78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A non-parametric resampling method used to determine statistical significance without assuming the data follows a specific distribution.</a:t>
                </a:r>
              </a:p>
              <a:p>
                <a:r>
                  <a:rPr lang="en-US" dirty="0"/>
                  <a:t>The "Exchangeability" Assumption: Under the null hypothesis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we assume group labels (e.g., Treatment A vs. B) are arbitrary.</a:t>
                </a:r>
              </a:p>
              <a:p>
                <a:r>
                  <a:rPr lang="en-US" dirty="0"/>
                  <a:t>Process: </a:t>
                </a:r>
              </a:p>
              <a:p>
                <a:r>
                  <a:rPr lang="en-US" dirty="0"/>
                  <a:t>1. Obtain a test statistic from your real, observed data.</a:t>
                </a:r>
              </a:p>
              <a:p>
                <a:r>
                  <a:rPr lang="en-US" dirty="0"/>
                  <a:t>2. Shuffle these labels thousands of times across samples and calculate the statistic for each permutation to build a null distribution.</a:t>
                </a:r>
              </a:p>
              <a:p>
                <a:r>
                  <a:rPr lang="en-US" dirty="0"/>
                  <a:t>3. Calculate the p-value as the proportion of iterations where the permuted (randomized) data produced a test statistic as or more extreme than the value observed in the original, real data.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7EF7C79-F225-6EDA-020D-840F1C09C78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606" t="-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665467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6C9D135-2BF4-4694-8732-88EEE18AA8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778FCE6-4D20-4A9A-90B4-C948024EBE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BCBF307-3BC6-4D33-BC45-E7DADD14F2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26B229C7-9B45-4F13-BD80-FF26C3107F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5D2B203-24E4-8294-C227-3C9B318B85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41110" y="639097"/>
            <a:ext cx="3401961" cy="368601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100">
                <a:solidFill>
                  <a:schemeClr val="tx1">
                    <a:lumMod val="85000"/>
                    <a:lumOff val="15000"/>
                  </a:schemeClr>
                </a:solidFill>
              </a:rPr>
              <a:t>Example Permuted Distribution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1EAF179-4011-00D1-A597-A37BD909356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33999" y="773804"/>
            <a:ext cx="6912217" cy="4786709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BFBA6A7-95D6-4239-B14C-C391C9AB0A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209305" y="4343400"/>
            <a:ext cx="3200400" cy="0"/>
          </a:xfrm>
          <a:prstGeom prst="line">
            <a:avLst/>
          </a:prstGeom>
          <a:ln w="6350">
            <a:solidFill>
              <a:schemeClr val="tx2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4FD99AF6-F027-43A0-A89A-36FCA2C851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A33A5B0-1EE4-4C83-AC98-9F64529406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34241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55F3B1-BD13-105E-1F23-586EB9C064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Perm-Corr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61B1706-7C78-6D26-3CC9-2AFE17D677B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To test for global correlation differences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:</m:t>
                        </m:r>
                        <m:sSub>
                          <m:sSub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𝐑</m:t>
                            </m:r>
                          </m:e>
                          <m:sub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𝐑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i="1" dirty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dirty="0"/>
                  <a:t> the Perm-Corr procedure bypasses unverifiable asymptotic assumptions by building a custom null distribution from the data.</a:t>
                </a:r>
              </a:p>
              <a:p>
                <a:r>
                  <a:rPr lang="en-US" dirty="0"/>
                  <a:t>1. Shuffle Sample Observations: Pool all samples and randomly re-assign treatment labels to the observations.</a:t>
                </a:r>
              </a:p>
              <a:p>
                <a:pPr lvl="1"/>
                <a:r>
                  <a:rPr lang="en-US" dirty="0"/>
                  <a:t>Shuffle at the observation level, not the correlation level.</a:t>
                </a:r>
              </a:p>
              <a:p>
                <a:r>
                  <a:rPr lang="en-US" dirty="0"/>
                  <a:t>2. Obtain correlation matrices and resulting difference matrix from these shuffled samples.</a:t>
                </a:r>
              </a:p>
              <a:p>
                <a:r>
                  <a:rPr lang="en-US" dirty="0"/>
                  <a:t>3. Calculate the global test statistic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) by summing the entry-wise differences.</a:t>
                </a:r>
              </a:p>
              <a:p>
                <a:r>
                  <a:rPr lang="en-US" dirty="0"/>
                  <a:t>4. Repeat: Iterate this process to obtain the empirical null distribution.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61B1706-7C78-6D26-3CC9-2AFE17D677B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606" t="-1667" r="-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40614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315234-2C48-41A4-0BCF-E73DDFFFFD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 Implications for Simulated Data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A22A98B-4D2B-17F4-63AE-559E13D3755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14837" y="1737360"/>
            <a:ext cx="7252509" cy="402272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0EB9FB4-914C-5075-E5F0-757D1FBC1412}"/>
              </a:ext>
            </a:extLst>
          </p:cNvPr>
          <p:cNvSpPr txBox="1"/>
          <p:nvPr/>
        </p:nvSpPr>
        <p:spPr>
          <a:xfrm>
            <a:off x="7867346" y="1920240"/>
            <a:ext cx="3886211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dirty="0"/>
              <a:t>Rejection Rates even for high dimensionality at advertised alpha</a:t>
            </a:r>
          </a:p>
          <a:p>
            <a:pPr marL="285750" indent="-285750">
              <a:buFontTx/>
              <a:buChar char="-"/>
            </a:pPr>
            <a:endParaRPr lang="en-US" dirty="0"/>
          </a:p>
          <a:p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Misleading power guarantees for other methods, i.e. poorly controlled rejection rates</a:t>
            </a:r>
          </a:p>
          <a:p>
            <a:pPr marL="285750" indent="-285750">
              <a:buFontTx/>
              <a:buChar char="-"/>
            </a:pPr>
            <a:endParaRPr lang="en-US" dirty="0"/>
          </a:p>
          <a:p>
            <a:pPr marL="285750" indent="-285750">
              <a:buFontTx/>
              <a:buChar char="-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60112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D5160E-BF63-F26E-32C3-524C665C8D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Application – Gene Expression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2B3F58B-90B6-2122-38CA-DFC468767AF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096963" y="2362277"/>
            <a:ext cx="10058400" cy="2990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8657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FAC221-771F-0BA7-5F08-090B599D9D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My Thesis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072177-8E11-516F-D75B-08DB5804C7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1" dirty="0"/>
              <a:t>Goal:</a:t>
            </a:r>
            <a:r>
              <a:rPr lang="en-US" dirty="0"/>
              <a:t> Develop a framework that identifies groups of variables that experience shared changes in correlation across multiple groups through the DCM procedure.</a:t>
            </a:r>
          </a:p>
          <a:p>
            <a:r>
              <a:rPr lang="en-US" dirty="0"/>
              <a:t>DCM Procedure:</a:t>
            </a:r>
          </a:p>
          <a:p>
            <a:r>
              <a:rPr lang="en-US" dirty="0"/>
              <a:t>1. Determine differential correlations</a:t>
            </a:r>
          </a:p>
          <a:p>
            <a:r>
              <a:rPr lang="en-US" dirty="0"/>
              <a:t>2. Identify candidate sets of variables (cliques)</a:t>
            </a:r>
          </a:p>
          <a:p>
            <a:pPr lvl="1"/>
            <a:r>
              <a:rPr lang="en-US" dirty="0"/>
              <a:t>Start with an initial set A0 (possibly empty).</a:t>
            </a:r>
          </a:p>
          <a:p>
            <a:pPr lvl="1"/>
            <a:r>
              <a:rPr lang="en-US" dirty="0"/>
              <a:t>Iteratively add/remove variables based on whether they have a significant positive average differential correlation with the current set.</a:t>
            </a:r>
          </a:p>
          <a:p>
            <a:pPr lvl="1"/>
            <a:r>
              <a:rPr lang="en-US" dirty="0"/>
              <a:t>Stop when the set stabilizes (no variables change).</a:t>
            </a:r>
          </a:p>
          <a:p>
            <a:r>
              <a:rPr lang="en-US" dirty="0"/>
              <a:t>3. Assess statistical significance</a:t>
            </a:r>
          </a:p>
          <a:p>
            <a:pPr lvl="1"/>
            <a:r>
              <a:rPr lang="en-US" dirty="0"/>
              <a:t>Appropriate testing method</a:t>
            </a:r>
          </a:p>
          <a:p>
            <a:pPr lvl="1"/>
            <a:r>
              <a:rPr lang="en-US" dirty="0"/>
              <a:t>Adjust for multiple testing (e.g., Benjamini-Hochberg Procedure).</a:t>
            </a:r>
          </a:p>
          <a:p>
            <a:r>
              <a:rPr lang="en-US" dirty="0"/>
              <a:t>4. Output significant variable sets</a:t>
            </a:r>
          </a:p>
          <a:p>
            <a:pPr lvl="1"/>
            <a:r>
              <a:rPr lang="en-US" dirty="0"/>
              <a:t>These sets are the ones you’d investigate further (e.g., genes that change co-expression between healthy and disease states).”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47003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866C8E-7CEC-9CA3-0851-EE42F6E35A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Thesis Connection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18C954-904E-72E8-02C8-3FD0BD339F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5067546" cy="4023360"/>
          </a:xfrm>
        </p:spPr>
        <p:txBody>
          <a:bodyPr/>
          <a:lstStyle/>
          <a:p>
            <a:r>
              <a:rPr lang="en-US" dirty="0"/>
              <a:t>Similarities:</a:t>
            </a:r>
          </a:p>
          <a:p>
            <a:pPr lvl="1"/>
            <a:r>
              <a:rPr lang="en-US" dirty="0"/>
              <a:t>Still have a lack of asymptotic null distribution to derive p-values, so we require non-parametric methods.</a:t>
            </a:r>
          </a:p>
          <a:p>
            <a:pPr marL="201168" lvl="1" indent="0">
              <a:buNone/>
            </a:pPr>
            <a:endParaRPr lang="en-US" dirty="0"/>
          </a:p>
          <a:p>
            <a:pPr lvl="1"/>
            <a:r>
              <a:rPr lang="en-US" dirty="0"/>
              <a:t>My method uses permutation testing as one possible option for p-value computation.</a:t>
            </a:r>
          </a:p>
          <a:p>
            <a:pPr marL="201168" lvl="1" indent="0">
              <a:buNone/>
            </a:pPr>
            <a:endParaRPr lang="en-US" dirty="0"/>
          </a:p>
          <a:p>
            <a:pPr lvl="1"/>
            <a:r>
              <a:rPr lang="en-US" dirty="0"/>
              <a:t>Data applications are of similar structure (low sample size/high dimensionality)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4B93833-5408-5157-132E-76CB96497B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4983" y="1737360"/>
            <a:ext cx="5175564" cy="3560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58927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C2DE42-8E0D-37B3-9955-1CF0B4B672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Thesis Connection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50FABC6-25C4-3E7D-C984-C4C7DB1AA7F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Difference -&gt; </a:t>
                </a:r>
                <a:r>
                  <a:rPr lang="en-US"/>
                  <a:t>DCM!:</a:t>
                </a:r>
              </a:p>
              <a:p>
                <a:endParaRPr lang="en-US" dirty="0"/>
              </a:p>
              <a:p>
                <a:r>
                  <a:rPr lang="en-US" dirty="0"/>
                  <a:t>Comparing global correlation difference vs. finding sets of differentially correlated items.</a:t>
                </a:r>
              </a:p>
              <a:p>
                <a:pPr lvl="1"/>
                <a:r>
                  <a:rPr lang="en-US" b="0" dirty="0"/>
                  <a:t>This paper: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=…=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My Thesis: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=…=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endParaRPr lang="en-US" b="0" dirty="0"/>
              </a:p>
              <a:p>
                <a:pPr lvl="1"/>
                <a:endParaRPr lang="en-US" b="0" dirty="0"/>
              </a:p>
              <a:p>
                <a:r>
                  <a:rPr lang="en-US" dirty="0"/>
                  <a:t>Different statistic: DCM only compares raw differential correlations</a:t>
                </a:r>
              </a:p>
              <a:p>
                <a:pPr lvl="1"/>
                <a:r>
                  <a:rPr lang="en-US" dirty="0"/>
                  <a:t>No variance stabilizer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50FABC6-25C4-3E7D-C984-C4C7DB1AA7F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606" t="-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092450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D54DFB-EC1E-EF45-8D69-12CCAD6120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A09FBF-DD34-75D8-C8A9-1080C02D1E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Gómez, J. Á. S., Zhang, E., &amp; Liu, Y. (2025). Effective Permutation Tests for Differences Across Multiple High-Dimensional Correlation Matrices. </a:t>
            </a:r>
            <a:r>
              <a:rPr lang="en-US" i="1" dirty="0"/>
              <a:t>Journal of Computational and Graphical Statistics</a:t>
            </a:r>
            <a:r>
              <a:rPr lang="en-US" dirty="0"/>
              <a:t>, 1-10.</a:t>
            </a:r>
          </a:p>
          <a:p>
            <a:endParaRPr lang="en-US" dirty="0"/>
          </a:p>
          <a:p>
            <a:r>
              <a:rPr lang="en-US" dirty="0"/>
              <a:t>Bodwin, K., Zhang, K., &amp; Nobel, A. (2018). A testing based approach to the discovery of differentially correlated variable sets. </a:t>
            </a:r>
            <a:r>
              <a:rPr lang="en-US" i="1" dirty="0"/>
              <a:t>The annals of applied statistics</a:t>
            </a:r>
            <a:r>
              <a:rPr lang="en-US" dirty="0"/>
              <a:t>, </a:t>
            </a:r>
            <a:r>
              <a:rPr lang="en-US" i="1" dirty="0"/>
              <a:t>12</a:t>
            </a:r>
            <a:r>
              <a:rPr lang="en-US" dirty="0"/>
              <a:t>(2), 1180.</a:t>
            </a:r>
          </a:p>
        </p:txBody>
      </p:sp>
    </p:spTree>
    <p:extLst>
      <p:ext uri="{BB962C8B-B14F-4D97-AF65-F5344CB8AC3E}">
        <p14:creationId xmlns:p14="http://schemas.microsoft.com/office/powerpoint/2010/main" val="33011378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5230A27-1553-42F8-99D7-829868E137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772232D-B4D6-429F-B3D1-2D9891B85E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21564" y="320040"/>
            <a:ext cx="11548872" cy="6217920"/>
          </a:xfrm>
          <a:prstGeom prst="rect">
            <a:avLst/>
          </a:prstGeom>
          <a:solidFill>
            <a:schemeClr val="bg2"/>
          </a:solidFill>
          <a:ln w="127000" cap="sq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859232-69B7-42D1-10EC-D5B4C8CDA8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030" y="963997"/>
            <a:ext cx="3254691" cy="4938361"/>
          </a:xfrm>
        </p:spPr>
        <p:txBody>
          <a:bodyPr anchor="ctr">
            <a:normAutofit/>
          </a:bodyPr>
          <a:lstStyle/>
          <a:p>
            <a:pPr algn="r"/>
            <a:r>
              <a:rPr lang="en-US" sz="4400" dirty="0"/>
              <a:t>Thank you!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2CC3441-26B3-4381-B3DF-8AE3C288BC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0251" y="2057399"/>
            <a:ext cx="0" cy="274320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0810EB-D960-DF4D-5764-139A6309F3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882" y="963507"/>
            <a:ext cx="6135097" cy="4938851"/>
          </a:xfrm>
        </p:spPr>
        <p:txBody>
          <a:bodyPr anchor="ctr">
            <a:normAutofit/>
          </a:bodyPr>
          <a:lstStyle/>
          <a:p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887917624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rgbClr val="FFFFFF"/>
      </a:lt1>
      <a:dk2>
        <a:srgbClr val="46464A"/>
      </a:dk2>
      <a:lt2>
        <a:srgbClr val="D1D9E1"/>
      </a:lt2>
      <a:accent1>
        <a:srgbClr val="6F6F74"/>
      </a:accent1>
      <a:accent2>
        <a:srgbClr val="A7B789"/>
      </a:accent2>
      <a:accent3>
        <a:srgbClr val="BEAE98"/>
      </a:accent3>
      <a:accent4>
        <a:srgbClr val="92A9B9"/>
      </a:accent4>
      <a:accent5>
        <a:srgbClr val="9C8265"/>
      </a:accent5>
      <a:accent6>
        <a:srgbClr val="8D6974"/>
      </a:accent6>
      <a:hlink>
        <a:srgbClr val="67AABF"/>
      </a:hlink>
      <a:folHlink>
        <a:srgbClr val="B1B5AB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BAB94BD4-5D6D-4148-AB57-A4CCF1FD4E0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Winter Seminar Presentation</Template>
  <TotalTime>3134</TotalTime>
  <Words>996</Words>
  <Application>Microsoft Office PowerPoint</Application>
  <PresentationFormat>Widescreen</PresentationFormat>
  <Paragraphs>97</Paragraphs>
  <Slides>14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Aptos</vt:lpstr>
      <vt:lpstr>Calibri</vt:lpstr>
      <vt:lpstr>Calibri Light</vt:lpstr>
      <vt:lpstr>Cambria Math</vt:lpstr>
      <vt:lpstr>Retrospect</vt:lpstr>
      <vt:lpstr>Permutation Tests for Correlation Matrices</vt:lpstr>
      <vt:lpstr>Paper Introduction</vt:lpstr>
      <vt:lpstr>Differential Correlation</vt:lpstr>
      <vt:lpstr>The Problem</vt:lpstr>
      <vt:lpstr>Permutation Testing</vt:lpstr>
      <vt:lpstr>Example Permuted Distribution</vt:lpstr>
      <vt:lpstr>Perm-Corr</vt:lpstr>
      <vt:lpstr>Method Implications for Simulated Data</vt:lpstr>
      <vt:lpstr>Data Application – Gene Expression</vt:lpstr>
      <vt:lpstr>My Thesis</vt:lpstr>
      <vt:lpstr>Thesis Connection</vt:lpstr>
      <vt:lpstr>Thesis Connection</vt:lpstr>
      <vt:lpstr>References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Tyler Stoen</dc:creator>
  <cp:lastModifiedBy>Tyler Stoen</cp:lastModifiedBy>
  <cp:revision>7</cp:revision>
  <dcterms:created xsi:type="dcterms:W3CDTF">2026-03-07T23:12:15Z</dcterms:created>
  <dcterms:modified xsi:type="dcterms:W3CDTF">2026-03-11T18:50:24Z</dcterms:modified>
</cp:coreProperties>
</file>